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audience. Set up cats as a subject worth taking seriously: biology, behavior, and culture.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Cats are everywhere but poorly understood. Set up the myth we'll challenge. 1-2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physical adaptations that make cats efficient predators.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both lifestyles with equal visual weight, let the lifespan data speak. 1-2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Cats sleep 12-16 hours a day, roughly two-thirds of their lives. Ground the fun fact in real data. 1-2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concrete call to action: shelter visit or adoption.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2011680" cy="109728"/>
          </a:xfrm>
          <a:prstGeom prst="rect">
            <a:avLst/>
          </a:prstGeom>
          <a:solidFill>
            <a:srgbClr val="E88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The Secret Life of Cats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5E5E5"/>
                </a:solidFill>
                <a:latin typeface="Calibri"/>
              </a:defRPr>
            </a:pPr>
            <a:r>
              <a:t>Biology, behavior, and why they rule the internet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Why Cats Deserve a Closer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600 million+ domestic cats live alongside humans worldwide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Domesticated ~10,000 years ago in the Fertile Crescent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Most popular pet in the world by household count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Widely misunderstood as aloof or low-maintenance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 Secret Life of Cats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Built for the Hunt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Whiskers sense air currents and gauge tight spaces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Night vision is 6x sharper than a human's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Retractable claws stay sharp for climbing and defense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Flexible spine allows near-instant righting reflex</a:t>
            </a:r>
          </a:p>
          <a:p>
            <a:pPr>
              <a:lnSpc>
                <a:spcPct val="140000"/>
              </a:lnSpc>
              <a:defRPr sz="2200">
                <a:solidFill>
                  <a:srgbClr val="475569"/>
                </a:solidFill>
                <a:latin typeface="Calibri"/>
              </a:defRPr>
            </a:pPr>
            <a:r>
              <a:t>Ears rotate independently, each up to 180 degrees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 Secret Life of Cats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Indoor vs. Outdoor Living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840480" cy="4114800"/>
          </a:xfrm>
          <a:prstGeom prst="roundRect">
            <a:avLst/>
          </a:prstGeom>
          <a:solidFill>
            <a:srgbClr val="F7F5F0"/>
          </a:solidFill>
          <a:ln w="19050">
            <a:solidFill>
              <a:srgbClr val="2E4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2600">
                <a:solidFill>
                  <a:srgbClr val="2E4B3E"/>
                </a:solidFill>
                <a:latin typeface="Calibri"/>
              </a:defRPr>
            </a:pPr>
            <a:r>
              <a:t>Indoor</a:t>
            </a:r>
          </a:p>
          <a:p>
            <a:pPr>
              <a:lnSpc>
                <a:spcPct val="130000"/>
              </a:lnSpc>
              <a:defRPr sz="1800">
                <a:solidFill>
                  <a:srgbClr val="475569"/>
                </a:solidFill>
                <a:latin typeface="Calibri"/>
              </a:defRPr>
            </a:pPr>
            <a:r>
              <a:t>Average lifespan: 12-18 years</a:t>
            </a:r>
          </a:p>
          <a:p>
            <a:pPr>
              <a:lnSpc>
                <a:spcPct val="130000"/>
              </a:lnSpc>
              <a:defRPr sz="1800">
                <a:solidFill>
                  <a:srgbClr val="475569"/>
                </a:solidFill>
                <a:latin typeface="Calibri"/>
              </a:defRPr>
            </a:pPr>
            <a:r>
              <a:t>Protected from predators &amp; traffic</a:t>
            </a:r>
          </a:p>
          <a:p>
            <a:pPr>
              <a:lnSpc>
                <a:spcPct val="130000"/>
              </a:lnSpc>
              <a:defRPr sz="1800">
                <a:solidFill>
                  <a:srgbClr val="475569"/>
                </a:solidFill>
                <a:latin typeface="Calibri"/>
              </a:defRPr>
            </a:pPr>
            <a:r>
              <a:t>Needs enrichment to stay 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645920"/>
            <a:ext cx="3840480" cy="4114800"/>
          </a:xfrm>
          <a:prstGeom prst="roundRect">
            <a:avLst/>
          </a:prstGeom>
          <a:solidFill>
            <a:srgbClr val="F7F5F0"/>
          </a:solidFill>
          <a:ln w="19050">
            <a:solidFill>
              <a:srgbClr val="E88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2600">
                <a:solidFill>
                  <a:srgbClr val="E88D3A"/>
                </a:solidFill>
                <a:latin typeface="Calibri"/>
              </a:defRPr>
            </a:pPr>
            <a:r>
              <a:t>Outdoor</a:t>
            </a:r>
          </a:p>
          <a:p>
            <a:pPr>
              <a:lnSpc>
                <a:spcPct val="130000"/>
              </a:lnSpc>
              <a:defRPr sz="1800">
                <a:solidFill>
                  <a:srgbClr val="475569"/>
                </a:solidFill>
                <a:latin typeface="Calibri"/>
              </a:defRPr>
            </a:pPr>
            <a:r>
              <a:t>Average lifespan: 2-5 years</a:t>
            </a:r>
          </a:p>
          <a:p>
            <a:pPr>
              <a:lnSpc>
                <a:spcPct val="130000"/>
              </a:lnSpc>
              <a:defRPr sz="1800">
                <a:solidFill>
                  <a:srgbClr val="475569"/>
                </a:solidFill>
                <a:latin typeface="Calibri"/>
              </a:defRPr>
            </a:pPr>
            <a:r>
              <a:t>Full range of natural behaviors</a:t>
            </a:r>
          </a:p>
          <a:p>
            <a:pPr>
              <a:lnSpc>
                <a:spcPct val="130000"/>
              </a:lnSpc>
              <a:defRPr sz="1800">
                <a:solidFill>
                  <a:srgbClr val="475569"/>
                </a:solidFill>
                <a:latin typeface="Calibri"/>
              </a:defRPr>
            </a:pPr>
            <a:r>
              <a:t>Exposed to disease, traffic, predators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 Secret Life of Cats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A Cat's Day, 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6858000" cy="640080"/>
          </a:xfrm>
          <a:prstGeom prst="rect">
            <a:avLst/>
          </a:prstGeom>
          <a:solidFill>
            <a:srgbClr val="2E4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153619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Sleeping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16h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788920"/>
            <a:ext cx="1920240" cy="640080"/>
          </a:xfrm>
          <a:prstGeom prst="rect">
            <a:avLst/>
          </a:prstGeom>
          <a:solidFill>
            <a:srgbClr val="E88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Grooming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8892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40"/>
            <a:ext cx="1097280" cy="640080"/>
          </a:xfrm>
          <a:prstGeom prst="rect">
            <a:avLst/>
          </a:prstGeom>
          <a:solidFill>
            <a:srgbClr val="8A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Playing/Hunting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4904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2h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709160"/>
            <a:ext cx="1097280" cy="640080"/>
          </a:xfrm>
          <a:prstGeom prst="rect">
            <a:avLst/>
          </a:prstGeom>
          <a:solidFill>
            <a:srgbClr val="C9B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1560" y="44165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Eating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709160"/>
            <a:ext cx="1097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Calibri"/>
              </a:defRPr>
            </a:pPr>
            <a:r>
              <a:t>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 Secret Life of Cats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Adopt. Observe. Appreciate.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5E5E5"/>
                </a:solidFill>
                <a:latin typeface="Calibri"/>
              </a:defRPr>
            </a:pPr>
            <a:r>
              <a:t>Visit your local shelter and meet a cat looking for a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